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1" r:id="rId3"/>
    <p:sldId id="258" r:id="rId4"/>
    <p:sldId id="259" r:id="rId5"/>
    <p:sldId id="260" r:id="rId6"/>
    <p:sldId id="261" r:id="rId7"/>
    <p:sldId id="265" r:id="rId8"/>
    <p:sldId id="269" r:id="rId9"/>
    <p:sldId id="270" r:id="rId10"/>
    <p:sldId id="268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D7D31"/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31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351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694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45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206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953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5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618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47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882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6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73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256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BE789-DD0F-4655-806C-209C79B7EE01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1E741-8E44-49FC-AE30-A09E3FDE77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64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TaskSchedul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38125" y="-120568"/>
            <a:ext cx="9144000" cy="904875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2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3DPDF</a:t>
            </a:r>
            <a:r>
              <a:rPr kumimoji="1" lang="ja-JP" altLang="en-US" sz="2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生成サーバー 各種アプリケーションの設定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70841" y="784307"/>
            <a:ext cx="80867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hlinkClick r:id="rId2" action="ppaction://hlinksldjump"/>
              </a:rPr>
              <a:t>タスクスケジューラ</a:t>
            </a:r>
            <a:endParaRPr lang="en-US" altLang="ja-JP" sz="2000" dirty="0" smtClean="0">
              <a:latin typeface="メイリオ" panose="020B0604030504040204" pitchFamily="50" charset="-128"/>
              <a:ea typeface="メイリオ" panose="020B0604030504040204" pitchFamily="50" charset="-128"/>
              <a:hlinkClick r:id="rId2" action="ppaction://hlinksldjump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hlinkClick r:id="rId2" action="ppaction://hlinksldjump"/>
              </a:rPr>
              <a:t>Adobe</a:t>
            </a:r>
            <a:endParaRPr lang="en-US" altLang="ja-JP" sz="2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hlinkClick r:id="rId3" action="ppaction://hlinksldjump"/>
              </a:rPr>
              <a:t>Bullzip PDF Printer</a:t>
            </a:r>
            <a:endParaRPr lang="en-US" altLang="ja-JP" sz="2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hlinkClick r:id="rId4" action="ppaction://hlinksldjump"/>
              </a:rPr>
              <a:t>NVIDIA</a:t>
            </a:r>
            <a:endParaRPr lang="en-US" altLang="ja-JP" sz="2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hlinkClick r:id="rId5" action="ppaction://hlinksldjump"/>
              </a:rPr>
              <a:t>SQLite</a:t>
            </a:r>
            <a:endParaRPr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hlinkClick r:id="rId6" action="ppaction://hlinksldjump"/>
              </a:rPr>
              <a:t>フォルダ公開設定</a:t>
            </a:r>
            <a:endParaRPr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hlinkClick r:id="rId7" action="ppaction://hlinksldjump"/>
              </a:rPr>
              <a:t>フォルダアクセス設定</a:t>
            </a:r>
            <a:endParaRPr lang="en-US" altLang="ja-JP" sz="2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hlinkClick r:id="rId8" action="ppaction://hlinksldjump"/>
              </a:rPr>
              <a:t>フォルダ構成</a:t>
            </a:r>
            <a:endParaRPr lang="ja-JP" altLang="en-US" sz="2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200000"/>
              </a:lnSpc>
            </a:pP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今後の展望</a:t>
            </a:r>
            <a:endParaRPr lang="en-US" altLang="ja-JP" sz="2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563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2880" y="197485"/>
            <a:ext cx="10515600" cy="511175"/>
          </a:xfrm>
        </p:spPr>
        <p:txBody>
          <a:bodyPr>
            <a:normAutofit/>
          </a:bodyPr>
          <a:lstStyle/>
          <a:p>
            <a:r>
              <a:rPr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【1. </a:t>
            </a:r>
            <a:r>
              <a:rPr lang="ja-JP" altLang="en-US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タスクスケジューラ</a:t>
            </a:r>
            <a:r>
              <a:rPr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kumimoji="1" lang="ja-JP" altLang="en-US" sz="18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4820" y="979805"/>
            <a:ext cx="10119360" cy="2830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1800" dirty="0" err="1" smtClean="0">
                <a:hlinkClick r:id="rId2" action="ppaction://hlinkfile"/>
              </a:rPr>
              <a:t>TaskScheduler</a:t>
            </a:r>
            <a:r>
              <a:rPr kumimoji="1" lang="en-US" altLang="ja-JP" sz="1800" dirty="0" smtClean="0"/>
              <a:t> </a:t>
            </a:r>
            <a:r>
              <a:rPr lang="ja-JP" altLang="en-US" sz="1800" dirty="0" smtClean="0"/>
              <a:t>に格納されている</a:t>
            </a:r>
            <a:r>
              <a:rPr lang="en-US" altLang="ja-JP" sz="1800" dirty="0" smtClean="0"/>
              <a:t>.xml</a:t>
            </a:r>
            <a:r>
              <a:rPr lang="ja-JP" altLang="en-US" sz="1800" dirty="0" smtClean="0"/>
              <a:t>をインポートしてください。</a:t>
            </a:r>
            <a:endParaRPr lang="en-US" altLang="ja-JP" sz="1800" dirty="0" smtClean="0"/>
          </a:p>
          <a:p>
            <a:pPr marL="0" indent="0">
              <a:buNone/>
            </a:pPr>
            <a:endParaRPr kumimoji="1" lang="en-US" altLang="ja-JP" sz="1800" dirty="0"/>
          </a:p>
          <a:p>
            <a:pPr marL="0" indent="0">
              <a:buNone/>
            </a:pPr>
            <a:r>
              <a:rPr kumimoji="1" lang="ja-JP" altLang="en-US" sz="1800" dirty="0" smtClean="0"/>
              <a:t>実行ユーザーが</a:t>
            </a:r>
            <a:r>
              <a:rPr kumimoji="1" lang="en-US" altLang="ja-JP" sz="1800" dirty="0" smtClean="0"/>
              <a:t>”kz121632”</a:t>
            </a:r>
            <a:r>
              <a:rPr kumimoji="1" lang="ja-JP" altLang="en-US" sz="1800" dirty="0" smtClean="0"/>
              <a:t>になっているものについて</a:t>
            </a:r>
            <a:r>
              <a:rPr kumimoji="1" lang="en-US" altLang="ja-JP" sz="1800" dirty="0" smtClean="0"/>
              <a:t>(Generate_3DPDF</a:t>
            </a:r>
            <a:r>
              <a:rPr kumimoji="1" lang="ja-JP" altLang="en-US" sz="1800" dirty="0" smtClean="0"/>
              <a:t>以外のタスク</a:t>
            </a:r>
            <a:r>
              <a:rPr kumimoji="1" lang="en-US" altLang="ja-JP" sz="1800" dirty="0" smtClean="0"/>
              <a:t>)</a:t>
            </a:r>
            <a:r>
              <a:rPr kumimoji="1" lang="ja-JP" altLang="en-US" sz="1800" dirty="0" smtClean="0"/>
              <a:t>：</a:t>
            </a:r>
            <a:endParaRPr kumimoji="1" lang="en-US" altLang="ja-JP" sz="1800" dirty="0" smtClean="0"/>
          </a:p>
          <a:p>
            <a:pPr marL="0" indent="0">
              <a:buNone/>
            </a:pPr>
            <a:r>
              <a:rPr lang="ja-JP" altLang="en-US" sz="1800" smtClean="0"/>
              <a:t>サーバーの</a:t>
            </a:r>
            <a:r>
              <a:rPr lang="en-US" altLang="ja-JP" sz="1800" smtClean="0"/>
              <a:t>Administrators</a:t>
            </a:r>
            <a:r>
              <a:rPr lang="ja-JP" altLang="en-US" sz="1800" dirty="0" smtClean="0"/>
              <a:t>を実行権限するとプログラムが実行できなかった。</a:t>
            </a:r>
            <a:r>
              <a:rPr lang="en-US" altLang="ja-JP" sz="1800" dirty="0" smtClean="0"/>
              <a:t/>
            </a:r>
            <a:br>
              <a:rPr lang="en-US" altLang="ja-JP" sz="1800" dirty="0" smtClean="0"/>
            </a:br>
            <a:r>
              <a:rPr lang="ja-JP" altLang="en-US" sz="1800" dirty="0" smtClean="0"/>
              <a:t>→有事の際は、実行ユーザーを</a:t>
            </a:r>
            <a:r>
              <a:rPr lang="en-US" altLang="ja-JP" sz="1800" dirty="0" smtClean="0"/>
              <a:t>Admin</a:t>
            </a:r>
            <a:r>
              <a:rPr lang="ja-JP" altLang="en-US" sz="1800" dirty="0" smtClean="0"/>
              <a:t>の誰かに変更してください。</a:t>
            </a:r>
            <a:endParaRPr kumimoji="1"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3644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9308" y="34793"/>
            <a:ext cx="6586764" cy="514350"/>
          </a:xfrm>
        </p:spPr>
        <p:txBody>
          <a:bodyPr>
            <a:normAutofit/>
          </a:bodyPr>
          <a:lstStyle/>
          <a:p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【2. Adobe】</a:t>
            </a:r>
            <a:r>
              <a:rPr kumimoji="1" lang="ja-JP" altLang="en-US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環境設定</a:t>
            </a:r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, Adobe PDF</a:t>
            </a:r>
            <a:r>
              <a:rPr kumimoji="1" lang="ja-JP" altLang="en-US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の設定</a:t>
            </a:r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(Windows</a:t>
            </a:r>
            <a:r>
              <a:rPr kumimoji="1" lang="ja-JP" altLang="en-US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の設定</a:t>
            </a:r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8" y="947191"/>
            <a:ext cx="3646770" cy="2792694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/>
          <a:srcRect l="1587" b="52"/>
          <a:stretch/>
        </p:blipFill>
        <p:spPr>
          <a:xfrm>
            <a:off x="3862559" y="931014"/>
            <a:ext cx="3601669" cy="2512608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119308" y="590551"/>
            <a:ext cx="69342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 smtClean="0"/>
              <a:t>文書</a:t>
            </a:r>
            <a:endParaRPr kumimoji="1" lang="ja-JP" altLang="en-US" b="1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818413" y="550007"/>
            <a:ext cx="225836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 smtClean="0"/>
              <a:t>セキュリティ</a:t>
            </a:r>
            <a:r>
              <a:rPr kumimoji="1" lang="en-US" altLang="ja-JP" b="1" dirty="0" smtClean="0"/>
              <a:t>(</a:t>
            </a:r>
            <a:r>
              <a:rPr kumimoji="1" lang="ja-JP" altLang="en-US" b="1" dirty="0" smtClean="0"/>
              <a:t>拡張</a:t>
            </a:r>
            <a:r>
              <a:rPr kumimoji="1" lang="en-US" altLang="ja-JP" b="1" dirty="0" smtClean="0"/>
              <a:t>)</a:t>
            </a:r>
            <a:endParaRPr kumimoji="1" lang="ja-JP" altLang="en-US" b="1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19308" y="3822701"/>
            <a:ext cx="235719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 smtClean="0"/>
              <a:t>マルチメディアと</a:t>
            </a:r>
            <a:r>
              <a:rPr kumimoji="1" lang="en-US" altLang="ja-JP" b="1" dirty="0" smtClean="0"/>
              <a:t>3D</a:t>
            </a:r>
            <a:endParaRPr kumimoji="1" lang="ja-JP" altLang="en-US" b="1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8878115" y="85466"/>
            <a:ext cx="153684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 smtClean="0"/>
              <a:t>Adobe</a:t>
            </a:r>
            <a:r>
              <a:rPr lang="ja-JP" altLang="en-US" b="1" dirty="0"/>
              <a:t> </a:t>
            </a:r>
            <a:r>
              <a:rPr lang="en-US" altLang="ja-JP" b="1" dirty="0" smtClean="0"/>
              <a:t>PDF</a:t>
            </a:r>
            <a:endParaRPr kumimoji="1" lang="ja-JP" altLang="en-US" b="1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8823002" y="534565"/>
            <a:ext cx="2787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窓</a:t>
            </a:r>
            <a:r>
              <a:rPr kumimoji="1" lang="en-US" altLang="ja-JP" sz="1400" dirty="0" smtClean="0"/>
              <a:t>&gt; </a:t>
            </a:r>
            <a:r>
              <a:rPr kumimoji="1" lang="ja-JP" altLang="en-US" sz="1400" dirty="0" smtClean="0"/>
              <a:t>設定</a:t>
            </a:r>
            <a:r>
              <a:rPr kumimoji="1" lang="en-US" altLang="ja-JP" sz="1400" dirty="0" smtClean="0"/>
              <a:t>&gt; Bluetooth</a:t>
            </a:r>
            <a:r>
              <a:rPr kumimoji="1" lang="ja-JP" altLang="en-US" sz="1400" dirty="0" smtClean="0"/>
              <a:t>とデバイス</a:t>
            </a:r>
            <a:r>
              <a:rPr kumimoji="1" lang="en-US" altLang="ja-JP" sz="1400" dirty="0" smtClean="0"/>
              <a:t/>
            </a:r>
            <a:br>
              <a:rPr kumimoji="1" lang="en-US" altLang="ja-JP" sz="1400" dirty="0" smtClean="0"/>
            </a:br>
            <a:r>
              <a:rPr kumimoji="1" lang="en-US" altLang="ja-JP" sz="1400" dirty="0" smtClean="0"/>
              <a:t>&gt; </a:t>
            </a:r>
            <a:r>
              <a:rPr kumimoji="1" lang="ja-JP" altLang="en-US" sz="1400" dirty="0" smtClean="0"/>
              <a:t>プリンターとスキャナー</a:t>
            </a:r>
            <a:endParaRPr kumimoji="1" lang="ja-JP" altLang="en-US" sz="14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8095647" y="3512140"/>
            <a:ext cx="2061331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b="1" dirty="0" smtClean="0"/>
              <a:t>for_3dpdf_dwgs</a:t>
            </a:r>
            <a:endParaRPr kumimoji="1" lang="ja-JP" altLang="en-US" b="1" dirty="0"/>
          </a:p>
        </p:txBody>
      </p:sp>
      <p:pic>
        <p:nvPicPr>
          <p:cNvPr id="17" name="図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958" y="4307412"/>
            <a:ext cx="2599129" cy="1299564"/>
          </a:xfrm>
          <a:prstGeom prst="rect">
            <a:avLst/>
          </a:prstGeom>
        </p:spPr>
      </p:pic>
      <p:sp>
        <p:nvSpPr>
          <p:cNvPr id="19" name="テキスト ボックス 18"/>
          <p:cNvSpPr txBox="1"/>
          <p:nvPr/>
        </p:nvSpPr>
        <p:spPr>
          <a:xfrm>
            <a:off x="4058731" y="3845125"/>
            <a:ext cx="1426421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b="1" dirty="0" smtClean="0"/>
              <a:t>JavaScript</a:t>
            </a:r>
            <a:endParaRPr kumimoji="1" lang="ja-JP" altLang="en-US" b="1" dirty="0"/>
          </a:p>
        </p:txBody>
      </p:sp>
      <p:sp>
        <p:nvSpPr>
          <p:cNvPr id="26" name="フリーフォーム 25"/>
          <p:cNvSpPr/>
          <p:nvPr/>
        </p:nvSpPr>
        <p:spPr>
          <a:xfrm>
            <a:off x="6775623" y="339590"/>
            <a:ext cx="1250473" cy="6238233"/>
          </a:xfrm>
          <a:custGeom>
            <a:avLst/>
            <a:gdLst>
              <a:gd name="connsiteX0" fmla="*/ 1233714 w 1250473"/>
              <a:gd name="connsiteY0" fmla="*/ 0 h 5994400"/>
              <a:gd name="connsiteX1" fmla="*/ 1233714 w 1250473"/>
              <a:gd name="connsiteY1" fmla="*/ 2583543 h 5994400"/>
              <a:gd name="connsiteX2" fmla="*/ 1059543 w 1250473"/>
              <a:gd name="connsiteY2" fmla="*/ 3367315 h 5994400"/>
              <a:gd name="connsiteX3" fmla="*/ 246743 w 1250473"/>
              <a:gd name="connsiteY3" fmla="*/ 3526972 h 5994400"/>
              <a:gd name="connsiteX4" fmla="*/ 0 w 1250473"/>
              <a:gd name="connsiteY4" fmla="*/ 5994400 h 599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473" h="5994400">
                <a:moveTo>
                  <a:pt x="1233714" y="0"/>
                </a:moveTo>
                <a:cubicBezTo>
                  <a:pt x="1248228" y="1011162"/>
                  <a:pt x="1262743" y="2022324"/>
                  <a:pt x="1233714" y="2583543"/>
                </a:cubicBezTo>
                <a:cubicBezTo>
                  <a:pt x="1204685" y="3144762"/>
                  <a:pt x="1224038" y="3210077"/>
                  <a:pt x="1059543" y="3367315"/>
                </a:cubicBezTo>
                <a:cubicBezTo>
                  <a:pt x="895048" y="3524553"/>
                  <a:pt x="423333" y="3089125"/>
                  <a:pt x="246743" y="3526972"/>
                </a:cubicBezTo>
                <a:cubicBezTo>
                  <a:pt x="70152" y="3964820"/>
                  <a:pt x="31448" y="5633962"/>
                  <a:pt x="0" y="5994400"/>
                </a:cubicBezTo>
              </a:path>
            </a:pathLst>
          </a:cu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84249" y="370349"/>
            <a:ext cx="5892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en-US" altLang="ja-JP" sz="11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ver</a:t>
            </a:r>
            <a:r>
              <a:rPr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2025.001.21111| 64-bit)</a:t>
            </a:r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288" y="5219696"/>
            <a:ext cx="1678055" cy="1638304"/>
          </a:xfrm>
          <a:prstGeom prst="rect">
            <a:avLst/>
          </a:prstGeom>
        </p:spPr>
      </p:pic>
      <p:pic>
        <p:nvPicPr>
          <p:cNvPr id="20" name="図 19"/>
          <p:cNvPicPr>
            <a:picLocks noChangeAspect="1"/>
          </p:cNvPicPr>
          <p:nvPr/>
        </p:nvPicPr>
        <p:blipFill rotWithShape="1">
          <a:blip r:embed="rId6"/>
          <a:srcRect b="19890"/>
          <a:stretch/>
        </p:blipFill>
        <p:spPr>
          <a:xfrm>
            <a:off x="8857041" y="1153366"/>
            <a:ext cx="3046495" cy="1999144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08" y="4330543"/>
            <a:ext cx="3689859" cy="2247281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4632" y="5339734"/>
            <a:ext cx="1846076" cy="1398227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6259" y="3991330"/>
            <a:ext cx="1455803" cy="1105256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8489" y="3845125"/>
            <a:ext cx="1632843" cy="1244956"/>
          </a:xfrm>
          <a:prstGeom prst="rect">
            <a:avLst/>
          </a:prstGeom>
        </p:spPr>
      </p:pic>
      <p:sp>
        <p:nvSpPr>
          <p:cNvPr id="21" name="正方形/長方形 20"/>
          <p:cNvSpPr/>
          <p:nvPr/>
        </p:nvSpPr>
        <p:spPr>
          <a:xfrm>
            <a:off x="9848850" y="2305050"/>
            <a:ext cx="1914501" cy="1079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吹き出し 21"/>
          <p:cNvSpPr/>
          <p:nvPr/>
        </p:nvSpPr>
        <p:spPr>
          <a:xfrm>
            <a:off x="7327900" y="1835150"/>
            <a:ext cx="1538773" cy="577850"/>
          </a:xfrm>
          <a:prstGeom prst="wedgeRectCallout">
            <a:avLst>
              <a:gd name="adj1" fmla="val 67168"/>
              <a:gd name="adj2" fmla="val 4223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/>
              <a:t>“Add”</a:t>
            </a:r>
            <a:r>
              <a:rPr lang="ja-JP" altLang="en-US" sz="1200" dirty="0" smtClean="0"/>
              <a:t>で</a:t>
            </a:r>
            <a:r>
              <a:rPr lang="en-US" altLang="ja-JP" sz="1200" dirty="0" smtClean="0"/>
              <a:t>A4_Y(A4</a:t>
            </a:r>
            <a:r>
              <a:rPr lang="ja-JP" altLang="en-US" sz="1200" dirty="0" smtClean="0"/>
              <a:t>横サイズ</a:t>
            </a:r>
            <a:r>
              <a:rPr lang="en-US" altLang="ja-JP" sz="1200" dirty="0" smtClean="0"/>
              <a:t>)</a:t>
            </a:r>
            <a:r>
              <a:rPr lang="ja-JP" altLang="en-US" sz="1200" dirty="0" smtClean="0"/>
              <a:t>を追加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070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ボックス 16"/>
          <p:cNvSpPr txBox="1"/>
          <p:nvPr/>
        </p:nvSpPr>
        <p:spPr>
          <a:xfrm>
            <a:off x="6798428" y="4804472"/>
            <a:ext cx="49215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以下のツールは</a:t>
            </a:r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Bullzip</a:t>
            </a:r>
            <a:r>
              <a:rPr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のウェブページから手動ダウンロード</a:t>
            </a:r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/>
            </a:r>
            <a:b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- GSLITE</a:t>
            </a:r>
          </a:p>
          <a:p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- PDF Power Tool</a:t>
            </a:r>
          </a:p>
          <a:p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- </a:t>
            </a:r>
            <a:r>
              <a:rPr kumimoji="1" lang="en-US" altLang="ja-JP" sz="12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Xpdf</a:t>
            </a:r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Lite</a:t>
            </a:r>
          </a:p>
          <a:p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https://www.bullzip.com/products/pdf/download.php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2"/>
          <a:srcRect l="2051" r="4099"/>
          <a:stretch/>
        </p:blipFill>
        <p:spPr>
          <a:xfrm>
            <a:off x="8760591" y="763792"/>
            <a:ext cx="2790001" cy="3185181"/>
          </a:xfrm>
          <a:prstGeom prst="rect">
            <a:avLst/>
          </a:prstGeom>
        </p:spPr>
      </p:pic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119308" y="34793"/>
            <a:ext cx="6586764" cy="514350"/>
          </a:xfrm>
        </p:spPr>
        <p:txBody>
          <a:bodyPr>
            <a:normAutofit/>
          </a:bodyPr>
          <a:lstStyle/>
          <a:p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【3. </a:t>
            </a:r>
            <a:r>
              <a:rPr kumimoji="1" lang="en-US" altLang="ja-JP" sz="18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Bullzip</a:t>
            </a:r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PDF】</a:t>
            </a:r>
            <a:r>
              <a:rPr kumimoji="1" lang="ja-JP" altLang="en-US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本体・</a:t>
            </a:r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Windows</a:t>
            </a:r>
            <a:r>
              <a:rPr kumimoji="1" lang="ja-JP" altLang="en-US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の設定</a:t>
            </a:r>
            <a:endParaRPr kumimoji="1" lang="ja-JP" altLang="en-US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700110" y="240572"/>
            <a:ext cx="2787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窓</a:t>
            </a:r>
            <a:r>
              <a:rPr kumimoji="1" lang="en-US" altLang="ja-JP" sz="1400" dirty="0" smtClean="0"/>
              <a:t>&gt; </a:t>
            </a:r>
            <a:r>
              <a:rPr kumimoji="1" lang="ja-JP" altLang="en-US" sz="1400" dirty="0" smtClean="0"/>
              <a:t>設定</a:t>
            </a:r>
            <a:r>
              <a:rPr kumimoji="1" lang="en-US" altLang="ja-JP" sz="1400" dirty="0" smtClean="0"/>
              <a:t>&gt; Bluetooth</a:t>
            </a:r>
            <a:r>
              <a:rPr kumimoji="1" lang="ja-JP" altLang="en-US" sz="1400" dirty="0" smtClean="0"/>
              <a:t>とデバイス</a:t>
            </a:r>
            <a:r>
              <a:rPr kumimoji="1" lang="en-US" altLang="ja-JP" sz="1400" dirty="0" smtClean="0"/>
              <a:t/>
            </a:r>
            <a:br>
              <a:rPr kumimoji="1" lang="en-US" altLang="ja-JP" sz="1400" dirty="0" smtClean="0"/>
            </a:br>
            <a:r>
              <a:rPr kumimoji="1" lang="en-US" altLang="ja-JP" sz="1400" dirty="0" smtClean="0"/>
              <a:t>&gt; </a:t>
            </a:r>
            <a:r>
              <a:rPr kumimoji="1" lang="ja-JP" altLang="en-US" sz="1400" dirty="0" smtClean="0"/>
              <a:t>プリンターとスキャナー</a:t>
            </a:r>
            <a:endParaRPr kumimoji="1" lang="ja-JP" altLang="en-US" sz="1400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/>
          <a:srcRect t="1213"/>
          <a:stretch/>
        </p:blipFill>
        <p:spPr>
          <a:xfrm>
            <a:off x="147261" y="4204669"/>
            <a:ext cx="3192078" cy="2386509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281" y="1065300"/>
            <a:ext cx="2673845" cy="3061886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276043" y="501534"/>
            <a:ext cx="1300218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Bullzip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76043" y="894927"/>
            <a:ext cx="130021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一般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570299" y="913159"/>
            <a:ext cx="130021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その他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19308" y="4199629"/>
            <a:ext cx="140721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5" name="直線コネクタ 14"/>
          <p:cNvCxnSpPr/>
          <p:nvPr/>
        </p:nvCxnSpPr>
        <p:spPr>
          <a:xfrm>
            <a:off x="6617901" y="501534"/>
            <a:ext cx="0" cy="6127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7072448" y="316868"/>
            <a:ext cx="1300218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Windows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558" y="5165335"/>
            <a:ext cx="2554991" cy="1217266"/>
          </a:xfrm>
          <a:prstGeom prst="rect">
            <a:avLst/>
          </a:prstGeom>
        </p:spPr>
      </p:pic>
      <p:cxnSp>
        <p:nvCxnSpPr>
          <p:cNvPr id="16" name="直線コネクタ 15"/>
          <p:cNvCxnSpPr/>
          <p:nvPr/>
        </p:nvCxnSpPr>
        <p:spPr>
          <a:xfrm flipH="1" flipV="1">
            <a:off x="6617901" y="4138159"/>
            <a:ext cx="5372857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6786921" y="4286650"/>
            <a:ext cx="25908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インストール時の注意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1" name="図 20"/>
          <p:cNvPicPr>
            <a:picLocks noChangeAspect="1"/>
          </p:cNvPicPr>
          <p:nvPr/>
        </p:nvPicPr>
        <p:blipFill rotWithShape="1">
          <a:blip r:embed="rId6"/>
          <a:srcRect b="3377"/>
          <a:stretch/>
        </p:blipFill>
        <p:spPr>
          <a:xfrm>
            <a:off x="3577542" y="4255859"/>
            <a:ext cx="2741626" cy="2496446"/>
          </a:xfrm>
          <a:prstGeom prst="rect">
            <a:avLst/>
          </a:prstGeom>
        </p:spPr>
      </p:pic>
      <p:sp>
        <p:nvSpPr>
          <p:cNvPr id="23" name="テキスト ボックス 22"/>
          <p:cNvSpPr txBox="1"/>
          <p:nvPr/>
        </p:nvSpPr>
        <p:spPr>
          <a:xfrm>
            <a:off x="3577542" y="4194620"/>
            <a:ext cx="140721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ダイ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ログ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045" y="1461672"/>
            <a:ext cx="2907690" cy="248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5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6200" y="155576"/>
            <a:ext cx="5133975" cy="425450"/>
          </a:xfrm>
        </p:spPr>
        <p:txBody>
          <a:bodyPr>
            <a:normAutofit fontScale="90000"/>
          </a:bodyPr>
          <a:lstStyle/>
          <a:p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【4. </a:t>
            </a:r>
            <a:r>
              <a:rPr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NVIDIA</a:t>
            </a:r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】NVIDIA</a:t>
            </a:r>
            <a:r>
              <a:rPr kumimoji="1" lang="ja-JP" altLang="en-US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コントロールパネルの設定</a:t>
            </a:r>
            <a:endParaRPr kumimoji="1" lang="ja-JP" altLang="en-US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615" y="3161968"/>
            <a:ext cx="6088771" cy="3813343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9188" y="4693195"/>
            <a:ext cx="4449032" cy="215301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9188" y="6975311"/>
            <a:ext cx="4526213" cy="216116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53" y="3534549"/>
            <a:ext cx="3521200" cy="306818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335" y="3534549"/>
            <a:ext cx="3690854" cy="3068180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325" y="3534549"/>
            <a:ext cx="3669684" cy="3068180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 rotWithShape="1">
          <a:blip r:embed="rId8"/>
          <a:srcRect l="-1" r="-244" b="26771"/>
          <a:stretch/>
        </p:blipFill>
        <p:spPr>
          <a:xfrm>
            <a:off x="1066613" y="993071"/>
            <a:ext cx="3041326" cy="2129433"/>
          </a:xfrm>
          <a:prstGeom prst="rect">
            <a:avLst/>
          </a:prstGeom>
        </p:spPr>
      </p:pic>
      <p:sp>
        <p:nvSpPr>
          <p:cNvPr id="11" name="テキスト ボックス 10"/>
          <p:cNvSpPr txBox="1"/>
          <p:nvPr/>
        </p:nvSpPr>
        <p:spPr>
          <a:xfrm>
            <a:off x="700853" y="623739"/>
            <a:ext cx="21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2026/02/17</a:t>
            </a:r>
            <a:r>
              <a:rPr lang="ja-JP" altLang="en-US" dirty="0"/>
              <a:t> </a:t>
            </a:r>
            <a:r>
              <a:rPr lang="ja-JP" altLang="en-US" dirty="0" smtClean="0"/>
              <a:t>アプデ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6015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44471"/>
            <a:ext cx="1759857" cy="447675"/>
          </a:xfrm>
        </p:spPr>
        <p:txBody>
          <a:bodyPr>
            <a:normAutofit/>
          </a:bodyPr>
          <a:lstStyle/>
          <a:p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【5. SQLite】</a:t>
            </a:r>
            <a:endParaRPr kumimoji="1" lang="ja-JP" altLang="en-US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624214" y="3907060"/>
            <a:ext cx="1100721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dirty="0" smtClean="0"/>
              <a:t>CREATE TABLE "job" (</a:t>
            </a:r>
          </a:p>
          <a:p>
            <a:r>
              <a:rPr lang="ja-JP" altLang="en-US" sz="1600" dirty="0" smtClean="0"/>
              <a:t>	"date"	TEXT NOT NULL DEFAULT CURRENT_TIMESTAMP,</a:t>
            </a:r>
          </a:p>
          <a:p>
            <a:r>
              <a:rPr lang="ja-JP" altLang="en-US" sz="1600" dirty="0" smtClean="0"/>
              <a:t>	"userid"	TEXT NOT NULL,</a:t>
            </a:r>
          </a:p>
          <a:p>
            <a:r>
              <a:rPr lang="ja-JP" altLang="en-US" sz="1600" dirty="0" smtClean="0"/>
              <a:t>	"job_id"	TEXT NOT NULL,</a:t>
            </a:r>
          </a:p>
          <a:p>
            <a:r>
              <a:rPr lang="ja-JP" altLang="en-US" sz="1600" dirty="0" smtClean="0"/>
              <a:t>	"cn"	TEXT NOT NULL,</a:t>
            </a:r>
          </a:p>
          <a:p>
            <a:r>
              <a:rPr lang="ja-JP" altLang="en-US" sz="1600" dirty="0" smtClean="0"/>
              <a:t>	"status"	TEXT DEFAULT 'Queued',</a:t>
            </a:r>
          </a:p>
          <a:p>
            <a:r>
              <a:rPr lang="ja-JP" altLang="en-US" sz="1600" dirty="0" smtClean="0"/>
              <a:t>	"condition"	TEXT CHECK(("condition" IN ('Completed', 'Failed', 'Canceled'))),</a:t>
            </a:r>
          </a:p>
          <a:p>
            <a:r>
              <a:rPr lang="ja-JP" altLang="en-US" sz="1600" dirty="0" smtClean="0"/>
              <a:t>	"error"	TEXT,</a:t>
            </a:r>
          </a:p>
          <a:p>
            <a:r>
              <a:rPr lang="ja-JP" altLang="en-US" sz="1600" dirty="0" smtClean="0"/>
              <a:t>	PRIMARY KEY("job_id")</a:t>
            </a:r>
          </a:p>
          <a:p>
            <a:r>
              <a:rPr lang="ja-JP" altLang="en-US" sz="1600" dirty="0" smtClean="0"/>
              <a:t>)</a:t>
            </a:r>
            <a:endParaRPr lang="en-US" altLang="ja-JP" sz="1600" dirty="0" smtClean="0"/>
          </a:p>
          <a:p>
            <a:r>
              <a:rPr lang="ja-JP" altLang="en-US" sz="1600" dirty="0" smtClean="0"/>
              <a:t>CREATE TABLE sqlite_sequence(name,seq)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l="52727"/>
          <a:stretch/>
        </p:blipFill>
        <p:spPr>
          <a:xfrm>
            <a:off x="7172960" y="157449"/>
            <a:ext cx="1996440" cy="3702623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214" y="157449"/>
            <a:ext cx="4681336" cy="3652148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 rotWithShape="1">
          <a:blip r:embed="rId2"/>
          <a:srcRect r="76109" b="96486"/>
          <a:stretch/>
        </p:blipFill>
        <p:spPr>
          <a:xfrm>
            <a:off x="7425403" y="144471"/>
            <a:ext cx="1580454" cy="20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1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811" y="-45748"/>
            <a:ext cx="10515600" cy="1020254"/>
          </a:xfrm>
        </p:spPr>
        <p:txBody>
          <a:bodyPr>
            <a:normAutofit/>
          </a:bodyPr>
          <a:lstStyle/>
          <a:p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【6.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フォルダ公開</a:t>
            </a: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設定</a:t>
            </a: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】</a:t>
            </a:r>
            <a:b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3DPDF</a:t>
            </a:r>
            <a:r>
              <a:rPr lang="ja-JP" altLang="en-US" sz="200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生成サーバー</a:t>
            </a:r>
            <a:r>
              <a:rPr lang="en-US" altLang="ja-JP" sz="200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&gt; </a:t>
            </a: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C</a:t>
            </a: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ドライブ</a:t>
            </a: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&gt; 3DPDF&gt;  </a:t>
            </a: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各フォルダの共有</a:t>
            </a:r>
            <a:r>
              <a:rPr kumimoji="1"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設定</a:t>
            </a:r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graphicFrame>
        <p:nvGraphicFramePr>
          <p:cNvPr id="6" name="オブジェクト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240058"/>
              </p:ext>
            </p:extLst>
          </p:nvPr>
        </p:nvGraphicFramePr>
        <p:xfrm>
          <a:off x="7985553" y="6267373"/>
          <a:ext cx="1864282" cy="503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パッケージャー シェル オブジェクト" showAsIcon="1" r:id="rId3" imgW="1904990" imgH="514558" progId="Package">
                  <p:embed/>
                </p:oleObj>
              </mc:Choice>
              <mc:Fallback>
                <p:oleObj name="パッケージャー シェル オブジェクト" showAsIcon="1" r:id="rId3" imgW="1904990" imgH="514558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85553" y="6267373"/>
                        <a:ext cx="1864282" cy="503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1333621" y="6401397"/>
            <a:ext cx="717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共有設定のやり方、共有グループの管理方法</a:t>
            </a:r>
            <a:endParaRPr kumimoji="1" lang="ja-JP" altLang="en-US" dirty="0"/>
          </a:p>
        </p:txBody>
      </p:sp>
      <p:sp>
        <p:nvSpPr>
          <p:cNvPr id="8" name="右矢印 7"/>
          <p:cNvSpPr/>
          <p:nvPr/>
        </p:nvSpPr>
        <p:spPr>
          <a:xfrm>
            <a:off x="6338753" y="6452764"/>
            <a:ext cx="1504335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5"/>
          <a:srcRect l="5314" t="59155" r="60358" b="25212"/>
          <a:stretch/>
        </p:blipFill>
        <p:spPr>
          <a:xfrm>
            <a:off x="7491617" y="3055589"/>
            <a:ext cx="1856325" cy="1185012"/>
          </a:xfrm>
          <a:prstGeom prst="rect">
            <a:avLst/>
          </a:prstGeom>
        </p:spPr>
      </p:pic>
      <p:grpSp>
        <p:nvGrpSpPr>
          <p:cNvPr id="32" name="グループ化 31"/>
          <p:cNvGrpSpPr/>
          <p:nvPr/>
        </p:nvGrpSpPr>
        <p:grpSpPr>
          <a:xfrm>
            <a:off x="2533218" y="1290332"/>
            <a:ext cx="3216723" cy="4405681"/>
            <a:chOff x="1906905" y="1866455"/>
            <a:chExt cx="3216723" cy="4405681"/>
          </a:xfrm>
        </p:grpSpPr>
        <p:pic>
          <p:nvPicPr>
            <p:cNvPr id="16" name="図 15"/>
            <p:cNvPicPr>
              <a:picLocks noChangeAspect="1"/>
            </p:cNvPicPr>
            <p:nvPr/>
          </p:nvPicPr>
          <p:blipFill rotWithShape="1">
            <a:blip r:embed="rId6"/>
            <a:srcRect r="51791"/>
            <a:stretch/>
          </p:blipFill>
          <p:spPr>
            <a:xfrm>
              <a:off x="1906905" y="1866455"/>
              <a:ext cx="2846070" cy="4405681"/>
            </a:xfrm>
            <a:prstGeom prst="rect">
              <a:avLst/>
            </a:prstGeom>
          </p:spPr>
        </p:pic>
        <p:sp>
          <p:nvSpPr>
            <p:cNvPr id="17" name="テキスト ボックス 16"/>
            <p:cNvSpPr txBox="1"/>
            <p:nvPr/>
          </p:nvSpPr>
          <p:spPr>
            <a:xfrm>
              <a:off x="4221480" y="1927860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chemeClr val="accent5"/>
                  </a:solidFill>
                </a:rPr>
                <a:t>Everyone</a:t>
              </a:r>
              <a:endParaRPr kumimoji="1" lang="ja-JP" altLang="en-US" sz="1200" b="1" dirty="0">
                <a:solidFill>
                  <a:schemeClr val="accent5"/>
                </a:solidFill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221480" y="2204859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chemeClr val="accent5"/>
                  </a:solidFill>
                </a:rPr>
                <a:t>Everyone</a:t>
              </a:r>
              <a:endParaRPr kumimoji="1" lang="ja-JP" altLang="en-US" sz="1200" b="1" dirty="0">
                <a:solidFill>
                  <a:schemeClr val="accent5"/>
                </a:solidFill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4221480" y="4705378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chemeClr val="accent5"/>
                  </a:solidFill>
                </a:rPr>
                <a:t>Everyone</a:t>
              </a:r>
              <a:endParaRPr kumimoji="1" lang="ja-JP" altLang="en-US" sz="1200" b="1" dirty="0">
                <a:solidFill>
                  <a:schemeClr val="accent5"/>
                </a:solidFill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4221480" y="4995494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chemeClr val="accent5"/>
                  </a:solidFill>
                </a:rPr>
                <a:t>Everyone</a:t>
              </a:r>
              <a:endParaRPr kumimoji="1" lang="ja-JP" altLang="en-US" sz="1200" b="1" dirty="0">
                <a:solidFill>
                  <a:schemeClr val="accent5"/>
                </a:solidFill>
              </a:endParaRP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4221480" y="5285611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chemeClr val="accent5"/>
                  </a:solidFill>
                </a:rPr>
                <a:t>Everyone</a:t>
              </a:r>
              <a:endParaRPr kumimoji="1" lang="ja-JP" altLang="en-US" sz="1200" b="1" dirty="0">
                <a:solidFill>
                  <a:schemeClr val="accent5"/>
                </a:solidFill>
              </a:endParaRPr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4221480" y="5608520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chemeClr val="accent5"/>
                  </a:solidFill>
                </a:rPr>
                <a:t>Everyone</a:t>
              </a:r>
              <a:endParaRPr kumimoji="1" lang="ja-JP" altLang="en-US" sz="1200" b="1" dirty="0">
                <a:solidFill>
                  <a:schemeClr val="accent5"/>
                </a:solidFill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4220528" y="2541358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rgbClr val="FF0000"/>
                  </a:solidFill>
                </a:rPr>
                <a:t>Admin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4221480" y="2856781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rgbClr val="FF0000"/>
                  </a:solidFill>
                </a:rPr>
                <a:t>Admin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4221480" y="3165155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rgbClr val="FF0000"/>
                  </a:solidFill>
                </a:rPr>
                <a:t>Admin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テキスト ボックス 25"/>
            <p:cNvSpPr txBox="1"/>
            <p:nvPr/>
          </p:nvSpPr>
          <p:spPr>
            <a:xfrm>
              <a:off x="4232088" y="3480374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rgbClr val="FF0000"/>
                  </a:solidFill>
                </a:rPr>
                <a:t>Admin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テキスト ボックス 26"/>
            <p:cNvSpPr txBox="1"/>
            <p:nvPr/>
          </p:nvSpPr>
          <p:spPr>
            <a:xfrm>
              <a:off x="4232088" y="3770490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rgbClr val="FF0000"/>
                  </a:solidFill>
                </a:rPr>
                <a:t>Admin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テキスト ボックス 27"/>
            <p:cNvSpPr txBox="1"/>
            <p:nvPr/>
          </p:nvSpPr>
          <p:spPr>
            <a:xfrm>
              <a:off x="4232088" y="4074939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rgbClr val="FF0000"/>
                  </a:solidFill>
                </a:rPr>
                <a:t>Admin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テキスト ボックス 28"/>
            <p:cNvSpPr txBox="1"/>
            <p:nvPr/>
          </p:nvSpPr>
          <p:spPr>
            <a:xfrm>
              <a:off x="4220528" y="4371689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rgbClr val="FF0000"/>
                  </a:solidFill>
                </a:rPr>
                <a:t>Admin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31" name="テキスト ボックス 30"/>
            <p:cNvSpPr txBox="1"/>
            <p:nvPr/>
          </p:nvSpPr>
          <p:spPr>
            <a:xfrm>
              <a:off x="4220528" y="5940494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rgbClr val="FF0000"/>
                  </a:solidFill>
                </a:rPr>
                <a:t>Admin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グループ化 35"/>
          <p:cNvGrpSpPr/>
          <p:nvPr/>
        </p:nvGrpSpPr>
        <p:grpSpPr>
          <a:xfrm>
            <a:off x="7396732" y="1300005"/>
            <a:ext cx="2083751" cy="934459"/>
            <a:chOff x="5025709" y="1756694"/>
            <a:chExt cx="2083751" cy="934459"/>
          </a:xfrm>
        </p:grpSpPr>
        <p:pic>
          <p:nvPicPr>
            <p:cNvPr id="33" name="図 32"/>
            <p:cNvPicPr>
              <a:picLocks noChangeAspect="1"/>
            </p:cNvPicPr>
            <p:nvPr/>
          </p:nvPicPr>
          <p:blipFill rotWithShape="1">
            <a:blip r:embed="rId5"/>
            <a:srcRect l="4961" t="4314" r="70187" b="83697"/>
            <a:stretch/>
          </p:blipFill>
          <p:spPr>
            <a:xfrm>
              <a:off x="5025709" y="1756694"/>
              <a:ext cx="1348741" cy="912097"/>
            </a:xfrm>
            <a:prstGeom prst="rect">
              <a:avLst/>
            </a:prstGeom>
          </p:spPr>
        </p:pic>
        <p:sp>
          <p:nvSpPr>
            <p:cNvPr id="34" name="テキスト ボックス 33"/>
            <p:cNvSpPr txBox="1"/>
            <p:nvPr/>
          </p:nvSpPr>
          <p:spPr>
            <a:xfrm>
              <a:off x="6091477" y="2414154"/>
              <a:ext cx="891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chemeClr val="accent5"/>
                  </a:solidFill>
                </a:rPr>
                <a:t>Everyone</a:t>
              </a:r>
              <a:endParaRPr kumimoji="1" lang="ja-JP" altLang="en-US" sz="1200" b="1" dirty="0">
                <a:solidFill>
                  <a:schemeClr val="accent5"/>
                </a:solidFill>
              </a:endParaRPr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6084464" y="2114793"/>
              <a:ext cx="1024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 smtClean="0">
                  <a:solidFill>
                    <a:schemeClr val="accent6"/>
                  </a:solidFill>
                </a:rPr>
                <a:t>KZW</a:t>
              </a:r>
              <a:r>
                <a:rPr lang="en-US" altLang="ja-JP" sz="1200" b="1" dirty="0">
                  <a:solidFill>
                    <a:schemeClr val="accent6"/>
                  </a:solidFill>
                </a:rPr>
                <a:t>_</a:t>
              </a:r>
              <a:r>
                <a:rPr kumimoji="1" lang="en-US" altLang="ja-JP" sz="1200" b="1" dirty="0" smtClean="0">
                  <a:solidFill>
                    <a:schemeClr val="accent6"/>
                  </a:solidFill>
                </a:rPr>
                <a:t>ALL</a:t>
              </a:r>
              <a:endParaRPr kumimoji="1" lang="ja-JP" altLang="en-US" sz="1200" b="1" dirty="0">
                <a:solidFill>
                  <a:schemeClr val="accent6"/>
                </a:solidFill>
              </a:endParaRPr>
            </a:p>
          </p:txBody>
        </p:sp>
      </p:grpSp>
      <p:pic>
        <p:nvPicPr>
          <p:cNvPr id="37" name="図 36"/>
          <p:cNvPicPr>
            <a:picLocks noChangeAspect="1"/>
          </p:cNvPicPr>
          <p:nvPr/>
        </p:nvPicPr>
        <p:blipFill rotWithShape="1">
          <a:blip r:embed="rId5"/>
          <a:srcRect l="5314" t="79400" r="60358" b="9342"/>
          <a:stretch/>
        </p:blipFill>
        <p:spPr>
          <a:xfrm>
            <a:off x="7515346" y="5098223"/>
            <a:ext cx="1998722" cy="918915"/>
          </a:xfrm>
          <a:prstGeom prst="rect">
            <a:avLst/>
          </a:prstGeom>
        </p:spPr>
      </p:pic>
      <p:cxnSp>
        <p:nvCxnSpPr>
          <p:cNvPr id="39" name="カギ線コネクタ 38"/>
          <p:cNvCxnSpPr>
            <a:stCxn id="17" idx="3"/>
            <a:endCxn id="33" idx="1"/>
          </p:cNvCxnSpPr>
          <p:nvPr/>
        </p:nvCxnSpPr>
        <p:spPr>
          <a:xfrm>
            <a:off x="5739333" y="1490237"/>
            <a:ext cx="1657399" cy="265817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カギ線コネクタ 41"/>
          <p:cNvCxnSpPr>
            <a:stCxn id="19" idx="3"/>
            <a:endCxn id="12" idx="1"/>
          </p:cNvCxnSpPr>
          <p:nvPr/>
        </p:nvCxnSpPr>
        <p:spPr>
          <a:xfrm flipV="1">
            <a:off x="5739333" y="3648095"/>
            <a:ext cx="1752284" cy="61966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5" name="カギ線コネクタ 44"/>
          <p:cNvCxnSpPr>
            <a:stCxn id="21" idx="3"/>
            <a:endCxn id="37" idx="1"/>
          </p:cNvCxnSpPr>
          <p:nvPr/>
        </p:nvCxnSpPr>
        <p:spPr>
          <a:xfrm>
            <a:off x="5739333" y="4847988"/>
            <a:ext cx="1776013" cy="70969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8625017" y="3919575"/>
            <a:ext cx="89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smtClean="0">
                <a:solidFill>
                  <a:schemeClr val="accent5"/>
                </a:solidFill>
              </a:rPr>
              <a:t>Everyone</a:t>
            </a:r>
            <a:endParaRPr kumimoji="1" lang="ja-JP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8625017" y="3332866"/>
            <a:ext cx="1024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smtClean="0">
                <a:solidFill>
                  <a:schemeClr val="accent6"/>
                </a:solidFill>
              </a:rPr>
              <a:t>KZW</a:t>
            </a:r>
            <a:r>
              <a:rPr lang="en-US" altLang="ja-JP" sz="1200" b="1" dirty="0">
                <a:solidFill>
                  <a:schemeClr val="accent6"/>
                </a:solidFill>
              </a:rPr>
              <a:t>_</a:t>
            </a:r>
            <a:r>
              <a:rPr kumimoji="1" lang="en-US" altLang="ja-JP" sz="1200" b="1" dirty="0" smtClean="0">
                <a:solidFill>
                  <a:schemeClr val="accent6"/>
                </a:solidFill>
              </a:rPr>
              <a:t>ALL</a:t>
            </a:r>
            <a:endParaRPr kumimoji="1" lang="ja-JP" altLang="en-US" sz="1200" b="1" dirty="0">
              <a:solidFill>
                <a:schemeClr val="accent6"/>
              </a:solidFill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8625017" y="5769589"/>
            <a:ext cx="89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smtClean="0">
                <a:solidFill>
                  <a:schemeClr val="accent5"/>
                </a:solidFill>
              </a:rPr>
              <a:t>Everyone</a:t>
            </a:r>
            <a:endParaRPr kumimoji="1" lang="ja-JP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8618004" y="5470228"/>
            <a:ext cx="1024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smtClean="0">
                <a:solidFill>
                  <a:schemeClr val="accent6"/>
                </a:solidFill>
              </a:rPr>
              <a:t>KZW</a:t>
            </a:r>
            <a:r>
              <a:rPr lang="en-US" altLang="ja-JP" sz="1200" b="1" dirty="0">
                <a:solidFill>
                  <a:schemeClr val="accent6"/>
                </a:solidFill>
              </a:rPr>
              <a:t>_</a:t>
            </a:r>
            <a:r>
              <a:rPr kumimoji="1" lang="en-US" altLang="ja-JP" sz="1200" b="1" dirty="0" smtClean="0">
                <a:solidFill>
                  <a:schemeClr val="accent6"/>
                </a:solidFill>
              </a:rPr>
              <a:t>ALL</a:t>
            </a:r>
            <a:endParaRPr kumimoji="1" lang="ja-JP" altLang="en-US" sz="1200" b="1" dirty="0">
              <a:solidFill>
                <a:schemeClr val="accent6"/>
              </a:solidFill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8618004" y="3647776"/>
            <a:ext cx="1024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smtClean="0">
                <a:solidFill>
                  <a:schemeClr val="accent6">
                    <a:lumMod val="75000"/>
                  </a:schemeClr>
                </a:solidFill>
              </a:rPr>
              <a:t>KZW</a:t>
            </a:r>
            <a:r>
              <a:rPr lang="en-US" altLang="ja-JP" sz="1200" b="1" dirty="0" smtClean="0">
                <a:solidFill>
                  <a:schemeClr val="accent6">
                    <a:lumMod val="75000"/>
                  </a:schemeClr>
                </a:solidFill>
              </a:rPr>
              <a:t>_ERI</a:t>
            </a:r>
            <a:endParaRPr kumimoji="1" lang="ja-JP" altLang="en-US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599810" y="1013333"/>
            <a:ext cx="191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 smtClean="0"/>
              <a:t>フォルダ公開先</a:t>
            </a:r>
            <a:endParaRPr kumimoji="1" lang="ja-JP" altLang="en-US" sz="1200" dirty="0"/>
          </a:p>
        </p:txBody>
      </p:sp>
      <p:sp>
        <p:nvSpPr>
          <p:cNvPr id="56" name="四角形吹き出し 55"/>
          <p:cNvSpPr/>
          <p:nvPr/>
        </p:nvSpPr>
        <p:spPr>
          <a:xfrm>
            <a:off x="8351150" y="371318"/>
            <a:ext cx="3670360" cy="829697"/>
          </a:xfrm>
          <a:prstGeom prst="wedgeRectCallout">
            <a:avLst>
              <a:gd name="adj1" fmla="val 671"/>
              <a:gd name="adj2" fmla="val 938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/>
              <a:t>THAI</a:t>
            </a:r>
            <a:r>
              <a:rPr kumimoji="1" lang="ja-JP" altLang="en-US" sz="1000" dirty="0" smtClean="0"/>
              <a:t>については、</a:t>
            </a:r>
            <a:r>
              <a:rPr kumimoji="1" lang="en-US" altLang="ja-JP" sz="1000" dirty="0" smtClean="0"/>
              <a:t>RD_ALL</a:t>
            </a:r>
            <a:r>
              <a:rPr kumimoji="1" lang="ja-JP" altLang="en-US" sz="1000" dirty="0" smtClean="0"/>
              <a:t>というグループを使用すると、</a:t>
            </a:r>
            <a:r>
              <a:rPr kumimoji="1" lang="en-US" altLang="ja-JP" sz="1000" dirty="0" smtClean="0"/>
              <a:t/>
            </a:r>
            <a:br>
              <a:rPr kumimoji="1" lang="en-US" altLang="ja-JP" sz="1000" dirty="0" smtClean="0"/>
            </a:br>
            <a:r>
              <a:rPr kumimoji="1" lang="ja-JP" altLang="en-US" sz="1000" dirty="0" smtClean="0"/>
              <a:t>ドメインの関係からか、フォルダにアクセスできない。</a:t>
            </a:r>
            <a:r>
              <a:rPr kumimoji="1" lang="en-US" altLang="ja-JP" sz="1000" dirty="0" smtClean="0"/>
              <a:t/>
            </a:r>
            <a:br>
              <a:rPr kumimoji="1" lang="en-US" altLang="ja-JP" sz="1000" dirty="0" smtClean="0"/>
            </a:br>
            <a:r>
              <a:rPr kumimoji="1" lang="ja-JP" altLang="en-US" sz="1000" dirty="0" smtClean="0"/>
              <a:t>個別に追加したらアクセスはできたが、設定がめ</a:t>
            </a:r>
            <a:r>
              <a:rPr kumimoji="1" lang="ja-JP" altLang="en-US" sz="1000" dirty="0" err="1" smtClean="0"/>
              <a:t>んど</a:t>
            </a:r>
            <a:r>
              <a:rPr kumimoji="1" lang="ja-JP" altLang="en-US" sz="1000" dirty="0" smtClean="0"/>
              <a:t>くさい</a:t>
            </a:r>
            <a:r>
              <a:rPr lang="ja-JP" altLang="en-US" sz="1000" dirty="0"/>
              <a:t>。</a:t>
            </a:r>
            <a:r>
              <a:rPr kumimoji="1" lang="en-US" altLang="ja-JP" sz="1000" dirty="0" smtClean="0"/>
              <a:t/>
            </a:r>
            <a:br>
              <a:rPr kumimoji="1" lang="en-US" altLang="ja-JP" sz="1000" dirty="0" smtClean="0"/>
            </a:br>
            <a:r>
              <a:rPr kumimoji="1" lang="ja-JP" altLang="en-US" sz="1000" dirty="0" smtClean="0"/>
              <a:t>そのため、</a:t>
            </a:r>
            <a:r>
              <a:rPr kumimoji="1" lang="en-US" altLang="ja-JP" sz="1000" dirty="0" smtClean="0"/>
              <a:t>Everyone</a:t>
            </a:r>
            <a:r>
              <a:rPr kumimoji="1" lang="ja-JP" altLang="en-US" sz="1000" dirty="0" smtClean="0"/>
              <a:t>に設定している。</a:t>
            </a:r>
            <a:endParaRPr kumimoji="1" lang="ja-JP" altLang="en-US" sz="1000" dirty="0"/>
          </a:p>
        </p:txBody>
      </p:sp>
      <p:sp>
        <p:nvSpPr>
          <p:cNvPr id="3" name="正方形/長方形 2"/>
          <p:cNvSpPr/>
          <p:nvPr/>
        </p:nvSpPr>
        <p:spPr>
          <a:xfrm>
            <a:off x="2587159" y="1281255"/>
            <a:ext cx="3239266" cy="654230"/>
          </a:xfrm>
          <a:prstGeom prst="rect">
            <a:avLst/>
          </a:prstGeom>
          <a:solidFill>
            <a:srgbClr val="000000">
              <a:alpha val="43137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7396732" y="1307111"/>
            <a:ext cx="2258360" cy="942901"/>
          </a:xfrm>
          <a:prstGeom prst="rect">
            <a:avLst/>
          </a:prstGeom>
          <a:solidFill>
            <a:srgbClr val="000000">
              <a:alpha val="43137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左中かっこ 3"/>
          <p:cNvSpPr/>
          <p:nvPr/>
        </p:nvSpPr>
        <p:spPr>
          <a:xfrm>
            <a:off x="2203137" y="1226637"/>
            <a:ext cx="357051" cy="764220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25025" y="1333631"/>
            <a:ext cx="1761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 dirty="0" smtClean="0"/>
              <a:t>設計テーブル・</a:t>
            </a:r>
            <a:r>
              <a:rPr kumimoji="1" lang="en-US" altLang="ja-JP" sz="1000" b="1" dirty="0" smtClean="0"/>
              <a:t/>
            </a:r>
            <a:br>
              <a:rPr kumimoji="1" lang="en-US" altLang="ja-JP" sz="1000" b="1" dirty="0" smtClean="0"/>
            </a:br>
            <a:r>
              <a:rPr kumimoji="1" lang="en-US" altLang="ja-JP" sz="1000" b="1" dirty="0" smtClean="0"/>
              <a:t>CATIA</a:t>
            </a:r>
            <a:r>
              <a:rPr lang="ja-JP" altLang="en-US" sz="1000" b="1" dirty="0" smtClean="0"/>
              <a:t>テンプレファイルを</a:t>
            </a:r>
            <a:r>
              <a:rPr lang="en-US" altLang="ja-JP" sz="1000" b="1" dirty="0" smtClean="0"/>
              <a:t>Innovator</a:t>
            </a:r>
            <a:r>
              <a:rPr lang="ja-JP" altLang="en-US" sz="1000" b="1" dirty="0" smtClean="0"/>
              <a:t>に移管できたら、復活させる</a:t>
            </a:r>
            <a:endParaRPr kumimoji="1" lang="ja-JP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19760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487" y="623944"/>
            <a:ext cx="6484170" cy="5637032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548640" y="6454614"/>
            <a:ext cx="12272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 smtClean="0">
                <a:solidFill>
                  <a:schemeClr val="accent2"/>
                </a:solidFill>
              </a:rPr>
              <a:t>30_Manual_Output</a:t>
            </a:r>
            <a:r>
              <a:rPr kumimoji="1" lang="ja-JP" altLang="en-US" sz="1100" dirty="0" smtClean="0">
                <a:solidFill>
                  <a:schemeClr val="accent2"/>
                </a:solidFill>
              </a:rPr>
              <a:t>で</a:t>
            </a:r>
            <a:r>
              <a:rPr kumimoji="1" lang="en-US" altLang="ja-JP" sz="1100" dirty="0" smtClean="0">
                <a:solidFill>
                  <a:schemeClr val="accent2"/>
                </a:solidFill>
              </a:rPr>
              <a:t>2D/3DPDF, Innovator</a:t>
            </a:r>
            <a:r>
              <a:rPr kumimoji="1" lang="ja-JP" altLang="en-US" sz="1100" dirty="0" smtClean="0">
                <a:solidFill>
                  <a:schemeClr val="accent2"/>
                </a:solidFill>
              </a:rPr>
              <a:t>アップロード用ファイルを保管する関係で、他のユーザーがフォルダ</a:t>
            </a:r>
            <a:r>
              <a:rPr kumimoji="1" lang="en-US" altLang="ja-JP" sz="1100" dirty="0" smtClean="0">
                <a:solidFill>
                  <a:schemeClr val="accent2"/>
                </a:solidFill>
              </a:rPr>
              <a:t>(</a:t>
            </a:r>
            <a:r>
              <a:rPr kumimoji="1" lang="ja-JP" altLang="en-US" sz="1100" dirty="0" smtClean="0">
                <a:solidFill>
                  <a:schemeClr val="accent2"/>
                </a:solidFill>
              </a:rPr>
              <a:t>主に</a:t>
            </a:r>
            <a:r>
              <a:rPr kumimoji="1" lang="en-US" altLang="ja-JP" sz="1100" dirty="0" smtClean="0">
                <a:solidFill>
                  <a:schemeClr val="accent2"/>
                </a:solidFill>
              </a:rPr>
              <a:t>KZW)</a:t>
            </a:r>
            <a:r>
              <a:rPr kumimoji="1" lang="ja-JP" altLang="en-US" sz="1100" dirty="0" smtClean="0">
                <a:solidFill>
                  <a:schemeClr val="accent2"/>
                </a:solidFill>
              </a:rPr>
              <a:t>を利用していてもエラーを起こさないようにする。</a:t>
            </a:r>
            <a:endParaRPr kumimoji="1" lang="en-US" altLang="ja-JP" sz="1100" dirty="0" smtClean="0">
              <a:solidFill>
                <a:schemeClr val="accent2"/>
              </a:solidFill>
            </a:endParaRPr>
          </a:p>
          <a:p>
            <a:r>
              <a:rPr lang="ja-JP" altLang="en-US" sz="1100" dirty="0">
                <a:solidFill>
                  <a:schemeClr val="accent2"/>
                </a:solidFill>
              </a:rPr>
              <a:t>ジョブ</a:t>
            </a:r>
            <a:r>
              <a:rPr lang="ja-JP" altLang="en-US" sz="1100" dirty="0" smtClean="0">
                <a:solidFill>
                  <a:schemeClr val="accent2"/>
                </a:solidFill>
              </a:rPr>
              <a:t>管理がされているから重大な問題は起こらないはず</a:t>
            </a:r>
            <a:r>
              <a:rPr lang="en-US" altLang="ja-JP" sz="1100" dirty="0" smtClean="0">
                <a:solidFill>
                  <a:schemeClr val="accent2"/>
                </a:solidFill>
              </a:rPr>
              <a:t>….</a:t>
            </a:r>
            <a:r>
              <a:rPr kumimoji="1" lang="en-US" altLang="ja-JP" dirty="0" smtClean="0">
                <a:solidFill>
                  <a:schemeClr val="accent2"/>
                </a:solidFill>
              </a:rPr>
              <a:t/>
            </a:r>
            <a:br>
              <a:rPr kumimoji="1" lang="en-US" altLang="ja-JP" dirty="0" smtClean="0">
                <a:solidFill>
                  <a:schemeClr val="accent2"/>
                </a:solidFill>
              </a:rPr>
            </a:b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65550" y="2057400"/>
            <a:ext cx="88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 err="1" smtClean="0"/>
              <a:t>gpedit.msc</a:t>
            </a:r>
            <a:endParaRPr kumimoji="1" lang="ja-JP" altLang="en-US" sz="11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02198"/>
            <a:ext cx="11919473" cy="656216"/>
          </a:xfrm>
        </p:spPr>
        <p:txBody>
          <a:bodyPr>
            <a:normAutofit/>
          </a:bodyPr>
          <a:lstStyle/>
          <a:p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【7.</a:t>
            </a: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フォルダ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アクセス</a:t>
            </a: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設定</a:t>
            </a: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】</a:t>
            </a:r>
            <a:b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en-US" altLang="ja-JP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 </a:t>
            </a: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誰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か</a:t>
            </a:r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がフォルダにアクセスしても、フォルダがロックされないようにする設定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43991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3350" y="288925"/>
            <a:ext cx="2914650" cy="358775"/>
          </a:xfrm>
        </p:spPr>
        <p:txBody>
          <a:bodyPr>
            <a:normAutofit/>
          </a:bodyPr>
          <a:lstStyle/>
          <a:p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【8. </a:t>
            </a:r>
            <a:r>
              <a:rPr kumimoji="1" lang="ja-JP" altLang="en-US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フォルダ構成</a:t>
            </a:r>
            <a:r>
              <a:rPr kumimoji="1" lang="en-US" altLang="ja-JP" sz="18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kumimoji="1" lang="ja-JP" altLang="en-US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/>
          <a:srcRect l="3974" t="79810" r="29033" b="5002"/>
          <a:stretch/>
        </p:blipFill>
        <p:spPr>
          <a:xfrm>
            <a:off x="7970520" y="5531572"/>
            <a:ext cx="1767840" cy="876848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sp>
        <p:nvSpPr>
          <p:cNvPr id="4" name="テキスト ボックス 3"/>
          <p:cNvSpPr txBox="1"/>
          <p:nvPr/>
        </p:nvSpPr>
        <p:spPr>
          <a:xfrm>
            <a:off x="3375798" y="373976"/>
            <a:ext cx="577596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00_Workspace:</a:t>
            </a:r>
          </a:p>
          <a:p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</a:t>
            </a:r>
            <a:r>
              <a:rPr lang="ja-JP" altLang="en-US" sz="14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の作業用フォルダ</a:t>
            </a:r>
            <a:endParaRPr lang="en-US" altLang="ja-JP" sz="1400" dirty="0" smtClean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KZW or THAI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&gt; 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個人の名前</a:t>
            </a:r>
            <a:endParaRPr lang="en-US" altLang="ja-JP" sz="1400" dirty="0" smtClean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個人フォルダより下の階層のフォルダ構成は自由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389918" y="2057119"/>
            <a:ext cx="681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10_TEMP             : 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Adobe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より生成された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2DPDF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が一時的に保管される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389918" y="2373225"/>
            <a:ext cx="6568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11_TEMPLATES   : 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Adobe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より生成された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2DPDF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が一時的に保管される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389918" y="2676714"/>
            <a:ext cx="6568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12_SETTINGS      :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dirty="0" err="1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SmartExchange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の設定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389918" y="2946605"/>
            <a:ext cx="681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13_FileUploadProgram: 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Innovator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にファイルアップロードするプログラム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389918" y="3231201"/>
            <a:ext cx="681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14_Adobe_print   : 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2DPDF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実行完了トリガー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en-US" altLang="ja-JP" sz="1400" dirty="0" err="1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Bullzip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で印刷されたものが入る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389918" y="3517184"/>
            <a:ext cx="7720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15_SmartExchange      : 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プログラムによって作成された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Batch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の中身をコピーする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389918" y="3820672"/>
            <a:ext cx="7986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20_3DPDF_result          : 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3DPDF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生成時に使用する一時保管フォルダ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. xml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の編集が可能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389918" y="4120363"/>
            <a:ext cx="7895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21_LOG                : </a:t>
            </a:r>
            <a:r>
              <a:rPr kumimoji="1"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ログが保管される。</a:t>
            </a:r>
            <a:r>
              <a:rPr kumimoji="1" lang="en-US" altLang="ja-JP" sz="1400" dirty="0" err="1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cn</a:t>
            </a:r>
            <a:r>
              <a:rPr kumimoji="1"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のフォルダの</a:t>
            </a:r>
            <a:r>
              <a:rPr kumimoji="1"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LOG</a:t>
            </a:r>
            <a:r>
              <a:rPr kumimoji="1"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に同じものが保管される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375798" y="5146498"/>
            <a:ext cx="8267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99</a:t>
            </a:r>
            <a:r>
              <a:rPr kumimoji="1"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_3DPDF_generate              : </a:t>
            </a:r>
            <a:r>
              <a:rPr kumimoji="1"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3DPDF</a:t>
            </a:r>
            <a:r>
              <a:rPr kumimoji="1"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起動に伴う各種プログラムが保管されている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5" name="グループ化 4"/>
          <p:cNvGrpSpPr/>
          <p:nvPr/>
        </p:nvGrpSpPr>
        <p:grpSpPr>
          <a:xfrm>
            <a:off x="0" y="747735"/>
            <a:ext cx="2574496" cy="5191964"/>
            <a:chOff x="804859" y="737336"/>
            <a:chExt cx="2574496" cy="5191964"/>
          </a:xfrm>
        </p:grpSpPr>
        <p:pic>
          <p:nvPicPr>
            <p:cNvPr id="3" name="図 2"/>
            <p:cNvPicPr>
              <a:picLocks noChangeAspect="1"/>
            </p:cNvPicPr>
            <p:nvPr/>
          </p:nvPicPr>
          <p:blipFill rotWithShape="1">
            <a:blip r:embed="rId3"/>
            <a:srcRect r="54427" b="28285"/>
            <a:stretch/>
          </p:blipFill>
          <p:spPr>
            <a:xfrm>
              <a:off x="1002979" y="737336"/>
              <a:ext cx="2376376" cy="4636744"/>
            </a:xfrm>
            <a:prstGeom prst="rect">
              <a:avLst/>
            </a:prstGeom>
          </p:spPr>
        </p:pic>
        <p:pic>
          <p:nvPicPr>
            <p:cNvPr id="25" name="図 24"/>
            <p:cNvPicPr>
              <a:picLocks noChangeAspect="1"/>
            </p:cNvPicPr>
            <p:nvPr/>
          </p:nvPicPr>
          <p:blipFill rotWithShape="1">
            <a:blip r:embed="rId3"/>
            <a:srcRect t="96016" r="54427"/>
            <a:stretch/>
          </p:blipFill>
          <p:spPr>
            <a:xfrm>
              <a:off x="804859" y="5671683"/>
              <a:ext cx="2376376" cy="257617"/>
            </a:xfrm>
            <a:prstGeom prst="rect">
              <a:avLst/>
            </a:prstGeom>
          </p:spPr>
        </p:pic>
      </p:grpSp>
      <p:sp>
        <p:nvSpPr>
          <p:cNvPr id="45" name="テキスト ボックス 44"/>
          <p:cNvSpPr txBox="1"/>
          <p:nvPr/>
        </p:nvSpPr>
        <p:spPr>
          <a:xfrm>
            <a:off x="3375798" y="1751486"/>
            <a:ext cx="8581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09_TEMP_3DPDF : </a:t>
            </a:r>
            <a:r>
              <a:rPr lang="en-US" altLang="ja-JP" sz="1400" dirty="0" err="1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SmartExchange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より生成された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3DPDF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が一時的に保管される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(Manual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用</a:t>
            </a:r>
            <a:r>
              <a:rPr lang="en-US" altLang="ja-JP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3375798" y="4911977"/>
            <a:ext cx="6926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98</a:t>
            </a:r>
            <a:r>
              <a:rPr kumimoji="1"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_3DPDF_Manual_Generate: </a:t>
            </a:r>
            <a:r>
              <a:rPr kumimoji="1"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マニュアル版のプログラム等が保管されている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3368738" y="1477682"/>
            <a:ext cx="8581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01_DesignTable   : </a:t>
            </a:r>
            <a:r>
              <a:rPr lang="ja-JP" altLang="en-US" sz="14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</a:t>
            </a:r>
            <a:r>
              <a:rPr lang="ja-JP" altLang="en-US" sz="1400" dirty="0" smtClean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テーブルが格納されている。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9" name="図 48"/>
          <p:cNvPicPr>
            <a:picLocks noChangeAspect="1"/>
          </p:cNvPicPr>
          <p:nvPr/>
        </p:nvPicPr>
        <p:blipFill rotWithShape="1">
          <a:blip r:embed="rId2"/>
          <a:srcRect l="3908" t="5969" r="37472" b="73587"/>
          <a:stretch/>
        </p:blipFill>
        <p:spPr>
          <a:xfrm>
            <a:off x="8084820" y="199139"/>
            <a:ext cx="1394736" cy="106414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テキスト ボックス 5"/>
          <p:cNvSpPr txBox="1"/>
          <p:nvPr/>
        </p:nvSpPr>
        <p:spPr>
          <a:xfrm>
            <a:off x="9738360" y="5837205"/>
            <a:ext cx="2103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 smtClean="0"/>
              <a:t>Innovator -&gt; pkv0198</a:t>
            </a:r>
            <a:r>
              <a:rPr lang="ja-JP" altLang="en-US" sz="1100" dirty="0"/>
              <a:t> </a:t>
            </a:r>
            <a:r>
              <a:rPr lang="ja-JP" altLang="en-US" sz="1100" dirty="0" smtClean="0"/>
              <a:t>用</a:t>
            </a:r>
            <a:r>
              <a:rPr kumimoji="1" lang="en-US" altLang="ja-JP" sz="1100" dirty="0" smtClean="0"/>
              <a:t>API</a:t>
            </a:r>
            <a:endParaRPr kumimoji="1" lang="ja-JP" altLang="en-US" sz="1100" dirty="0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9738360" y="6130082"/>
            <a:ext cx="2103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 smtClean="0"/>
              <a:t>3DPDF</a:t>
            </a:r>
            <a:r>
              <a:rPr kumimoji="1" lang="ja-JP" altLang="en-US" sz="1100" dirty="0" smtClean="0"/>
              <a:t>生成プログラム</a:t>
            </a:r>
            <a:r>
              <a:rPr kumimoji="1" lang="en-US" altLang="ja-JP" sz="1100" dirty="0" smtClean="0"/>
              <a:t>EXE</a:t>
            </a:r>
            <a:endParaRPr kumimoji="1" lang="ja-JP" altLang="en-US" sz="11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396130" y="5694173"/>
            <a:ext cx="4471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 smtClean="0">
                <a:solidFill>
                  <a:schemeClr val="bg1">
                    <a:lumMod val="50000"/>
                  </a:schemeClr>
                </a:solidFill>
              </a:rPr>
              <a:t>pk6513</a:t>
            </a:r>
            <a:r>
              <a:rPr kumimoji="1" lang="ja-JP" altLang="en-US" sz="1100" b="1" dirty="0" smtClean="0">
                <a:solidFill>
                  <a:schemeClr val="bg1">
                    <a:lumMod val="50000"/>
                  </a:schemeClr>
                </a:solidFill>
              </a:rPr>
              <a:t>の</a:t>
            </a:r>
            <a:r>
              <a:rPr lang="ja-JP" altLang="en-US" sz="1100" b="1" dirty="0" smtClean="0">
                <a:solidFill>
                  <a:schemeClr val="bg1">
                    <a:lumMod val="50000"/>
                  </a:schemeClr>
                </a:solidFill>
              </a:rPr>
              <a:t>データが記録されている</a:t>
            </a:r>
            <a:r>
              <a:rPr lang="en-US" altLang="ja-JP" sz="1100" b="1" dirty="0" smtClean="0">
                <a:solidFill>
                  <a:schemeClr val="bg1">
                    <a:lumMod val="50000"/>
                  </a:schemeClr>
                </a:solidFill>
              </a:rPr>
              <a:t>(2026/1/30</a:t>
            </a:r>
            <a:r>
              <a:rPr lang="ja-JP" altLang="en-US" sz="1100" b="1" dirty="0" err="1" smtClean="0">
                <a:solidFill>
                  <a:schemeClr val="bg1">
                    <a:lumMod val="50000"/>
                  </a:schemeClr>
                </a:solidFill>
              </a:rPr>
              <a:t>までの</a:t>
            </a:r>
            <a:r>
              <a:rPr lang="ja-JP" altLang="en-US" sz="1100" b="1" dirty="0" smtClean="0">
                <a:solidFill>
                  <a:schemeClr val="bg1">
                    <a:lumMod val="50000"/>
                  </a:schemeClr>
                </a:solidFill>
              </a:rPr>
              <a:t>データ</a:t>
            </a:r>
            <a:r>
              <a:rPr lang="en-US" altLang="ja-JP" sz="1100" b="1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kumimoji="1" lang="ja-JP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574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00050" y="250825"/>
            <a:ext cx="1600200" cy="663575"/>
          </a:xfrm>
        </p:spPr>
        <p:txBody>
          <a:bodyPr>
            <a:normAutofit/>
          </a:bodyPr>
          <a:lstStyle/>
          <a:p>
            <a:r>
              <a:rPr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今後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の展望</a:t>
            </a:r>
            <a:endParaRPr kumimoji="1" lang="ja-JP" altLang="en-US" sz="2000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2"/>
          <a:srcRect l="575" t="17855" r="42622" b="6123"/>
          <a:stretch/>
        </p:blipFill>
        <p:spPr>
          <a:xfrm>
            <a:off x="3181349" y="582612"/>
            <a:ext cx="7896506" cy="3971459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l="575" t="48035" r="42622" b="32845"/>
          <a:stretch/>
        </p:blipFill>
        <p:spPr>
          <a:xfrm>
            <a:off x="3262030" y="5542668"/>
            <a:ext cx="8015569" cy="1013911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200150" y="5849569"/>
            <a:ext cx="99508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現行</a:t>
            </a:r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200149" y="2453450"/>
            <a:ext cx="995083" cy="4001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今後</a:t>
            </a:r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7046259" y="2653505"/>
            <a:ext cx="995082" cy="49310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2"/>
          <a:srcRect l="19898" t="72601" r="49296" b="14855"/>
          <a:stretch/>
        </p:blipFill>
        <p:spPr>
          <a:xfrm>
            <a:off x="5532568" y="3103290"/>
            <a:ext cx="5196392" cy="655320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/>
          <a:srcRect l="18035" t="66139" r="45021" b="9356"/>
          <a:stretch/>
        </p:blipFill>
        <p:spPr>
          <a:xfrm>
            <a:off x="5593079" y="3511051"/>
            <a:ext cx="5135881" cy="1280160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5634781" y="3103290"/>
            <a:ext cx="12550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設計テーブル</a:t>
            </a:r>
            <a:r>
              <a:rPr kumimoji="1" lang="en-US" altLang="ja-JP" sz="900" b="1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Rev</a:t>
            </a:r>
            <a:endParaRPr kumimoji="1" lang="ja-JP" altLang="en-US" sz="900" b="1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5695264" y="3280219"/>
            <a:ext cx="4957496" cy="163069"/>
          </a:xfrm>
          <a:prstGeom prst="rect">
            <a:avLst/>
          </a:prstGeom>
          <a:ln w="12700">
            <a:solidFill>
              <a:srgbClr val="C5C5C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tIns="36000" bIns="0" rtlCol="0" anchor="t"/>
          <a:lstStyle/>
          <a:p>
            <a:r>
              <a:rPr lang="en-US" altLang="ja-JP" sz="1000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MS21151_6_Ver1_TEMPLATE.xlsm</a:t>
            </a:r>
            <a:endParaRPr kumimoji="1" lang="ja-JP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7046259" y="2653506"/>
            <a:ext cx="1255059" cy="38202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5593079" y="3092510"/>
            <a:ext cx="5135881" cy="4497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102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2890</TotalTime>
  <Words>719</Words>
  <Application>Microsoft Office PowerPoint</Application>
  <PresentationFormat>ワイド画面</PresentationFormat>
  <Paragraphs>112</Paragraphs>
  <Slides>10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8" baseType="lpstr">
      <vt:lpstr>メイリオ</vt:lpstr>
      <vt:lpstr>游ゴシック</vt:lpstr>
      <vt:lpstr>游ゴシック Light</vt:lpstr>
      <vt:lpstr>Arial</vt:lpstr>
      <vt:lpstr>Calibri</vt:lpstr>
      <vt:lpstr>Sans Serif Collection</vt:lpstr>
      <vt:lpstr>Office テーマ</vt:lpstr>
      <vt:lpstr>パッケージャー シェル オブジェクト</vt:lpstr>
      <vt:lpstr>3DPDF生成サーバー 各種アプリケーションの設定</vt:lpstr>
      <vt:lpstr>【1. タスクスケジューラ】</vt:lpstr>
      <vt:lpstr>【2. Adobe】環境設定, Adobe PDFの設定(Windowsの設定)</vt:lpstr>
      <vt:lpstr>【3. Bullzip PDF】本体・Windowsの設定</vt:lpstr>
      <vt:lpstr>【4. NVIDIA】NVIDIAコントロールパネルの設定</vt:lpstr>
      <vt:lpstr>【5. SQLite】</vt:lpstr>
      <vt:lpstr>【6.フォルダ公開設定】 3DPDF生成サーバー&gt; Cドライブ&gt; 3DPDF&gt;  各フォルダの共有設定</vt:lpstr>
      <vt:lpstr>【7.フォルダアクセス設定】  誰かがフォルダにアクセスしても、フォルダがロックされないようにする設定</vt:lpstr>
      <vt:lpstr>【8. フォルダ構成】</vt:lpstr>
      <vt:lpstr>今後の展望</vt:lpstr>
    </vt:vector>
  </TitlesOfParts>
  <Company>MinebeaMitsumi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API実行</dc:title>
  <dc:creator>HARUKA MATSUTA</dc:creator>
  <cp:lastModifiedBy>HARUKA MATSUTA</cp:lastModifiedBy>
  <cp:revision>113</cp:revision>
  <dcterms:created xsi:type="dcterms:W3CDTF">2025-12-02T04:42:05Z</dcterms:created>
  <dcterms:modified xsi:type="dcterms:W3CDTF">2026-03-09T01:31:10Z</dcterms:modified>
</cp:coreProperties>
</file>