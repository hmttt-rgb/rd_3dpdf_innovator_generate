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Yu Gothic UI"/>
              </a:defRPr>
            </a:pPr>
            <a:r>
              <a:t>PLMシステムを通じた図面生成プログラム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8F0"/>
                </a:solidFill>
                <a:latin typeface="Yu Gothic UI"/>
              </a:defRPr>
            </a:pPr>
            <a:r>
              <a:t>〜 人が司令塔。システムが実行。 創造的な仕事に集中できる環境づくり 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20240"/>
            <a:ext cx="5669280" cy="50292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Yu Gothic UI"/>
              </a:defRPr>
            </a:pPr>
            <a:r>
              <a:t>��  以前の課題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606040"/>
            <a:ext cx="5669280" cy="14173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500" b="1">
                <a:solidFill>
                  <a:srgbClr val="F28C28"/>
                </a:solidFill>
                <a:latin typeface="Yu Gothic UI"/>
              </a:defRPr>
            </a:pPr>
            <a:r>
              <a:t>課題①　情報の不一致リスク</a:t>
            </a:r>
          </a:p>
          <a:p>
            <a:pPr algn="l">
              <a:spcAft>
                <a:spcPts val="12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12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図面に書かれている情報と、PLMシステム(Innovator)にある</a:t>
            </a:r>
          </a:p>
          <a:p>
            <a:pPr algn="l">
              <a:spcAft>
                <a:spcPts val="12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情報が食い違ってしまうことがあった。</a:t>
            </a:r>
          </a:p>
          <a:p>
            <a:pPr algn="l">
              <a:spcAft>
                <a:spcPts val="120"/>
              </a:spcAft>
              <a:defRPr sz="1200" b="0">
                <a:solidFill>
                  <a:srgbClr val="666666"/>
                </a:solidFill>
                <a:latin typeface="Yu Gothic UI"/>
              </a:defRPr>
            </a:pPr>
            <a:r>
              <a:t>（例：住所録と名刺の内容が違うような状態）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06240"/>
            <a:ext cx="5669280" cy="14173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500" b="1">
                <a:solidFill>
                  <a:srgbClr val="F28C28"/>
                </a:solidFill>
                <a:latin typeface="Yu Gothic UI"/>
              </a:defRPr>
            </a:pPr>
            <a:r>
              <a:t>課題②　ファイル管理の煩雑さ</a:t>
            </a:r>
          </a:p>
          <a:p>
            <a:pPr algn="l">
              <a:spcAft>
                <a:spcPts val="12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12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図面作成に使う元ファイル（CAD設計データや工程注記など）の</a:t>
            </a:r>
          </a:p>
          <a:p>
            <a:pPr algn="l">
              <a:spcAft>
                <a:spcPts val="12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版管理が分かりにくく、第三者が最新版を把握しづらかった。</a:t>
            </a:r>
          </a:p>
          <a:p>
            <a:pPr algn="l">
              <a:spcAft>
                <a:spcPts val="120"/>
              </a:spcAft>
              <a:defRPr sz="1200" b="0">
                <a:solidFill>
                  <a:srgbClr val="666666"/>
                </a:solidFill>
                <a:latin typeface="Yu Gothic UI"/>
              </a:defRPr>
            </a:pPr>
            <a:r>
              <a:t>（例：フォルダに「最終版」「最終版_v2」が並ぶような状況）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806440"/>
            <a:ext cx="5669280" cy="868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500" b="1">
                <a:solidFill>
                  <a:srgbClr val="F28C28"/>
                </a:solidFill>
                <a:latin typeface="Yu Gothic UI"/>
              </a:defRPr>
            </a:pPr>
            <a:r>
              <a:t>課題③　同時利用の制約</a:t>
            </a:r>
          </a:p>
          <a:p>
            <a:pPr algn="l">
              <a:spcAft>
                <a:spcPts val="12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12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以前の仕組みでは一度に1人しか図面生成を実行できず、</a:t>
            </a:r>
          </a:p>
          <a:p>
            <a:pPr algn="l">
              <a:spcAft>
                <a:spcPts val="12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他の人は順番待ちを余儀なくされていた。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20240"/>
            <a:ext cx="566928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Yu Gothic UI"/>
              </a:defRPr>
            </a:pPr>
            <a:r>
              <a:t>💡  このプログラムでできること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606040"/>
            <a:ext cx="5669280" cy="406908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  <a:defRPr sz="1400" b="1">
                <a:solidFill>
                  <a:srgbClr val="0078D4"/>
                </a:solidFill>
                <a:latin typeface="Yu Gothic UI"/>
              </a:defRPr>
            </a:pPr>
            <a:r>
              <a:t>PLMシステムの情報から、図面(PDF)を自動で作成するプログラム</a:t>
            </a:r>
          </a:p>
          <a:p>
            <a:pPr algn="l">
              <a:spcAft>
                <a:spcPts val="120"/>
              </a:spcAft>
              <a:defRPr sz="8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120"/>
              </a:spcAft>
              <a:defRPr sz="1400" b="1">
                <a:solidFill>
                  <a:srgbClr val="333333"/>
                </a:solidFill>
                <a:latin typeface="Yu Gothic UI"/>
              </a:defRPr>
            </a:pPr>
            <a:r>
              <a:t>イメージ：レストランの注文システム</a:t>
            </a:r>
          </a:p>
          <a:p>
            <a:pPr algn="l">
              <a:spcAft>
                <a:spcPts val="120"/>
              </a:spcAft>
              <a:defRPr sz="6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12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① お客様（担当者）が注文ボタンを押す</a:t>
            </a:r>
          </a:p>
          <a:p>
            <a:pPr algn="l">
              <a:spcAft>
                <a:spcPts val="120"/>
              </a:spcAft>
              <a:defRPr sz="1200" b="0">
                <a:solidFill>
                  <a:srgbClr val="666666"/>
                </a:solidFill>
                <a:latin typeface="Yu Gothic UI"/>
              </a:defRPr>
            </a:pPr>
            <a:r>
              <a:t>   → PLMシステムから「この図面を作って」とリクエスト</a:t>
            </a:r>
          </a:p>
          <a:p>
            <a:pPr algn="l">
              <a:spcAft>
                <a:spcPts val="12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12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② キッチン（サーバー）が調理を開始</a:t>
            </a:r>
          </a:p>
          <a:p>
            <a:pPr algn="l">
              <a:spcAft>
                <a:spcPts val="120"/>
              </a:spcAft>
              <a:defRPr sz="1200" b="0">
                <a:solidFill>
                  <a:srgbClr val="666666"/>
                </a:solidFill>
                <a:latin typeface="Yu Gothic UI"/>
              </a:defRPr>
            </a:pPr>
            <a:r>
              <a:t>   → 必要な情報・ファイルを自動収集し、図面を組み立て</a:t>
            </a:r>
          </a:p>
          <a:p>
            <a:pPr algn="l">
              <a:spcAft>
                <a:spcPts val="12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12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③ 注文が重なっても、順番管理で対応</a:t>
            </a:r>
          </a:p>
          <a:p>
            <a:pPr algn="l">
              <a:spcAft>
                <a:spcPts val="120"/>
              </a:spcAft>
              <a:defRPr sz="1200" b="0">
                <a:solidFill>
                  <a:srgbClr val="666666"/>
                </a:solidFill>
                <a:latin typeface="Yu Gothic UI"/>
              </a:defRPr>
            </a:pPr>
            <a:r>
              <a:t>   → 複数の注文（図面リクエスト）を賢く順番処理</a:t>
            </a:r>
          </a:p>
          <a:p>
            <a:pPr algn="l">
              <a:spcAft>
                <a:spcPts val="12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12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④ できあがった料理（図面PDF）をお届け</a:t>
            </a:r>
          </a:p>
          <a:p>
            <a:pPr algn="l">
              <a:spcAft>
                <a:spcPts val="120"/>
              </a:spcAft>
              <a:defRPr sz="1200" b="0">
                <a:solidFill>
                  <a:srgbClr val="666666"/>
                </a:solidFill>
                <a:latin typeface="Yu Gothic UI"/>
              </a:defRPr>
            </a:pPr>
            <a:r>
              <a:t>   → 完成した図面を自動でPLMシステムに登録</a:t>
            </a:r>
          </a:p>
          <a:p>
            <a:pPr algn="l">
              <a:spcAft>
                <a:spcPts val="120"/>
              </a:spcAft>
              <a:defRPr sz="8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120"/>
              </a:spcAft>
              <a:defRPr sz="1400" b="1">
                <a:solidFill>
                  <a:srgbClr val="2DA44E"/>
                </a:solidFill>
                <a:latin typeface="Yu Gothic UI"/>
              </a:defRPr>
            </a:pPr>
            <a:r>
              <a:t>担当者は「注文ボタンを押す」だけ。</a:t>
            </a:r>
          </a:p>
          <a:p>
            <a:pPr algn="l">
              <a:spcAft>
                <a:spcPts val="120"/>
              </a:spcAft>
              <a:defRPr sz="1400" b="1">
                <a:solidFill>
                  <a:srgbClr val="2DA44E"/>
                </a:solidFill>
                <a:latin typeface="Yu Gothic UI"/>
              </a:defRPr>
            </a:pPr>
            <a:r>
              <a:t>あとはシステムが自動で最後まで処理します。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Yu Gothic UI"/>
              </a:defRPr>
            </a:pPr>
            <a:r>
              <a:t>導入による効果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3749039" cy="521208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749039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Yu Gothic UI"/>
              </a:defRPr>
            </a:pPr>
            <a:r>
              <a:t>効果①  待ち時間の大幅削減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E04040"/>
                </a:solidFill>
                <a:latin typeface="Yu Gothic UI"/>
              </a:defRPr>
            </a:pPr>
            <a:r>
              <a:t>以前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1人が使用中は他の全員が待つしかなかった。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（例：コピー機1台を全員で順番待ち）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500" b="1">
                <a:solidFill>
                  <a:srgbClr val="2DA44E"/>
                </a:solidFill>
                <a:latin typeface="Yu Gothic UI"/>
              </a:defRPr>
            </a:pPr>
            <a:r>
              <a:t>現在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予約方式のジョブ管理を導入。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「使用中なら自動で順番待ち」する仕組みに変更。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複数人が同時にリクエストしても、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システムが自動で順序を調整し、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ユーザーの待ち時間を極力削減。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0078D4"/>
                </a:solidFill>
                <a:latin typeface="Yu Gothic UI"/>
              </a:defRPr>
            </a:pPr>
            <a:r>
              <a:t>さらに進捗状況を画面でリアルタイム確認可能。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（例：飲食店の順番待ちアプリのように、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　自分の番がいつ来るか見える）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749039" cy="52120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DA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749039" cy="594360"/>
          </a:xfrm>
          <a:prstGeom prst="round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Yu Gothic UI"/>
              </a:defRPr>
            </a:pPr>
            <a:r>
              <a:t>効果②  正確性の向上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PLMシステムの情報を直接使って図面を作成。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333333"/>
                </a:solidFill>
                <a:latin typeface="Yu Gothic UI"/>
              </a:defRPr>
            </a:pPr>
            <a:r>
              <a:t>手入力がなくなることで…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DA44E"/>
                </a:solidFill>
                <a:latin typeface="Yu Gothic UI"/>
              </a:defRPr>
            </a:pPr>
            <a:r>
              <a:t>✓ タイプミスの排除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66666"/>
                </a:solidFill>
                <a:latin typeface="Yu Gothic UI"/>
              </a:defRPr>
            </a:pPr>
            <a:r>
              <a:t>   → 承認者名・日付・図番などを自動転記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DA44E"/>
                </a:solidFill>
                <a:latin typeface="Yu Gothic UI"/>
              </a:defRPr>
            </a:pPr>
            <a:r>
              <a:t>✓ 情報の整合性を確保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66666"/>
                </a:solidFill>
                <a:latin typeface="Yu Gothic UI"/>
              </a:defRPr>
            </a:pPr>
            <a:r>
              <a:t>   → PLMの中身＝図面の中身が常に一致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DA44E"/>
                </a:solidFill>
                <a:latin typeface="Yu Gothic UI"/>
              </a:defRPr>
            </a:pPr>
            <a:r>
              <a:t>✓ 版管理の明確化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66666"/>
                </a:solidFill>
                <a:latin typeface="Yu Gothic UI"/>
              </a:defRPr>
            </a:pPr>
            <a:r>
              <a:t>   → どのファイルが最新かが一目でわかる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（例：通帳と口座残高が常に一致する、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　という安心感に近いイメージ）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749039" cy="5212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749039" cy="59436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Yu Gothic UI"/>
              </a:defRPr>
            </a:pPr>
            <a:r>
              <a:t>効果③  創造的業務へのシフト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031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Yu Gothic UI"/>
              </a:defRPr>
            </a:pPr>
            <a:r>
              <a:t>図面生成は「ボタンひとつ」になった。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333333"/>
                </a:solidFill>
                <a:latin typeface="Yu Gothic UI"/>
              </a:defRPr>
            </a:pPr>
            <a:r>
              <a:t>生まれた時間の活用先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F28C28"/>
                </a:solidFill>
                <a:latin typeface="Yu Gothic UI"/>
              </a:defRPr>
            </a:pPr>
            <a:r>
              <a:t>🔹 新たな図面の設計・作成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F28C28"/>
                </a:solidFill>
                <a:latin typeface="Yu Gothic UI"/>
              </a:defRPr>
            </a:pPr>
            <a:r>
              <a:t>🔹 図面リリース後の対応業務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F28C28"/>
                </a:solidFill>
                <a:latin typeface="Yu Gothic UI"/>
              </a:defRPr>
            </a:pPr>
            <a:r>
              <a:t>🔹 設計品質を高める検討作業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333333"/>
                </a:solidFill>
                <a:latin typeface="Yu Gothic UI"/>
              </a:defRPr>
            </a:pPr>
            <a:r>
              <a:t>人がやるべき仕事 ＝ 判断・創造・改善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33333"/>
                </a:solidFill>
                <a:latin typeface="Yu Gothic UI"/>
              </a:defRPr>
            </a:pPr>
            <a:r>
              <a:t>システムがやる仕事 ＝ 転記・生成・管理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500" b="1">
                <a:solidFill>
                  <a:srgbClr val="0078D4"/>
                </a:solidFill>
                <a:latin typeface="Yu Gothic UI"/>
              </a:defRPr>
            </a:pPr>
            <a:r>
              <a:t>「人は司令塔、システムは実行部隊」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333333"/>
                </a:solidFill>
                <a:latin typeface="Yu Gothic UI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666666"/>
                </a:solidFill>
                <a:latin typeface="Yu Gothic UI"/>
              </a:defRPr>
            </a:pPr>
            <a:r>
              <a:t>自動化の目的は「楽をする」ことではなく、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66666"/>
                </a:solidFill>
                <a:latin typeface="Yu Gothic UI"/>
              </a:defRPr>
            </a:pPr>
            <a:r>
              <a:t>人がより価値のある仕事に集中すること。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C8F0"/>
                </a:solidFill>
                <a:latin typeface="Yu Gothic UI"/>
              </a:defRPr>
            </a:pPr>
            <a:r>
              <a:t>人が指示を出し、システムが正確に実行する ── その先にある「創造的な時間」のために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